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面向多智能体协作的低开销通信、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Georgia"/>
              </a:rPr>
              <a:t>状态传递与共享记忆机制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</a:rPr>
              <a:t>OS 大赛 · 赛题 10 · 应用创新（社区赛题）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A826"/>
                </a:solidFill>
              </a:rPr>
              <a:t>系统层机制：结构化通信 · 非文本状态 · 共享记忆 · CodeAct 沙箱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</a:rPr>
              <a:t>目标环境：openEuler 24.03-LTS-SP3 (x86_64)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问题与动机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A44"/>
                </a:solidFill>
              </a:rPr>
              <a:t>当前多 Agent 协作以自然语言 / JSON 透传中间结果，三大痛点：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611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292608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① 通信冗长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07791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重复上下文多，token 消耗高，协作成本随轮次与 Agent 数放大。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3611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94560"/>
            <a:ext cx="109728" cy="292608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9572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② 反复编解码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07791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中间状态在「内部状态—文本—内部状态」间转换，增加时延与语义损耗。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94560"/>
            <a:ext cx="35204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109728" cy="292608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95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③ 经验难复用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1"/>
            <a:ext cx="31089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中间知识与经验难以沉淀，相似任务仍从头开始，缺乏持续积累。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</a:rPr>
              <a:t>我们从「系统层机制」解决，而非普通工作流编排（LangGraph/AutoGen/CrewAI）。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目标与评分点对照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0704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</a:rPr>
              <a:t>▸ 通信效率 · 25  </a:t>
            </a:r>
            <a:r>
              <a:rPr sz="1700">
                <a:solidFill>
                  <a:srgbClr val="5A6072"/>
                </a:solidFill>
              </a:rPr>
              <a:t>结构化协议 + Artifact 引用 + 非文本状态，Token 节省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</a:rPr>
              <a:t>▸ 状态传递创新 · 20  </a:t>
            </a:r>
            <a:r>
              <a:rPr sz="1700">
                <a:solidFill>
                  <a:srgbClr val="5A6072"/>
                </a:solidFill>
              </a:rPr>
              <a:t>embedding / compact vector / plan DAG 直传且被真实消费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</a:rPr>
              <a:t>▸ 记忆复用效果 · 20  </a:t>
            </a:r>
            <a:r>
              <a:rPr sz="1700">
                <a:solidFill>
                  <a:srgbClr val="5A6072"/>
                </a:solidFill>
              </a:rPr>
              <a:t>跨任务共享记忆，Effective / Harmful 命中度量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</a:rPr>
              <a:t>▸ 系统完整性 · 20  </a:t>
            </a:r>
            <a:r>
              <a:rPr sz="1700">
                <a:solidFill>
                  <a:srgbClr val="5A6072"/>
                </a:solidFill>
              </a:rPr>
              <a:t>多 Agent 运行时、≥10 轮稳定、故障恢复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E2761"/>
                </a:solidFill>
              </a:rPr>
              <a:t>▸ 实验验证 · 15  </a:t>
            </a:r>
            <a:r>
              <a:rPr sz="1700">
                <a:solidFill>
                  <a:srgbClr val="5A6072"/>
                </a:solidFill>
              </a:rPr>
              <a:t>4 组主实验 + 消融，均值/std/P50/P95，原始数据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总体架构（13 模块 · 核心自研）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5544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554480"/>
            <a:ext cx="15544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554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554480"/>
            <a:ext cx="15544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554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554480"/>
            <a:ext cx="15544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554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54480"/>
            <a:ext cx="15544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Scheduler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554480"/>
            <a:ext cx="15544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55448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StateExch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554480" cy="822960"/>
          </a:xfrm>
          <a:prstGeom prst="rect">
            <a:avLst/>
          </a:prstGeom>
          <a:solidFill>
            <a:srgbClr val="334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1460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Artifact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514600"/>
            <a:ext cx="1554480" cy="822960"/>
          </a:xfrm>
          <a:prstGeom prst="rect">
            <a:avLst/>
          </a:prstGeom>
          <a:solidFill>
            <a:srgbClr val="334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251460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Memory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2514600"/>
            <a:ext cx="1554480" cy="822960"/>
          </a:xfrm>
          <a:prstGeom prst="rect">
            <a:avLst/>
          </a:prstGeom>
          <a:solidFill>
            <a:srgbClr val="334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251460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Sandbox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514600"/>
            <a:ext cx="1554480" cy="822960"/>
          </a:xfrm>
          <a:prstGeom prst="rect">
            <a:avLst/>
          </a:prstGeom>
          <a:solidFill>
            <a:srgbClr val="334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51460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Observ.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2514600"/>
            <a:ext cx="1554480" cy="822960"/>
          </a:xfrm>
          <a:prstGeom prst="rect">
            <a:avLst/>
          </a:prstGeom>
          <a:solidFill>
            <a:srgbClr val="334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51460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514600"/>
            <a:ext cx="1554480" cy="822960"/>
          </a:xfrm>
          <a:prstGeom prst="rect">
            <a:avLst/>
          </a:prstGeom>
          <a:solidFill>
            <a:srgbClr val="334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2514600"/>
            <a:ext cx="15544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Providers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49039"/>
            <a:ext cx="5440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49039"/>
            <a:ext cx="109728" cy="237744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3950207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四类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462272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Planner（规划/DAG）· Retriever（检索/复用）· CodeAct-Executor（生成并执行代码）· Reviewer（审查/总结/沉淀记忆）。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749039"/>
            <a:ext cx="54406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109728" cy="23774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50207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设计原则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462272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核心 Runtime/协议/状态/记忆全部自研；引用而非搬运；非文本状态被真实消费；mock-first 可复现；全链路降级。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结构化通信协议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唯一真源  </a:t>
            </a:r>
            <a:r>
              <a:rPr sz="1500">
                <a:solidFill>
                  <a:srgbClr val="5A6072"/>
                </a:solidFill>
              </a:rPr>
              <a:t>AgentMessage（Pydantic 全字段）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高密度语义  </a:t>
            </a:r>
            <a:r>
              <a:rPr sz="1500">
                <a:solidFill>
                  <a:srgbClr val="5A6072"/>
                </a:solidFill>
              </a:rPr>
              <a:t>动作 / 参数 / 结果 / 能力，替代自然语言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协议机制  </a:t>
            </a:r>
            <a:r>
              <a:rPr sz="1500">
                <a:solidFill>
                  <a:srgbClr val="5A6072"/>
                </a:solidFill>
              </a:rPr>
              <a:t>握手 · 能力发现 · schema 校验 · 版本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幂等 + trace  </a:t>
            </a:r>
            <a:r>
              <a:rPr sz="1500">
                <a:solidFill>
                  <a:srgbClr val="5A6072"/>
                </a:solidFill>
              </a:rPr>
              <a:t>相同请求复用结果；全链路 trace_id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公平双模式  </a:t>
            </a:r>
            <a:r>
              <a:rPr sz="1500">
                <a:solidFill>
                  <a:srgbClr val="5A6072"/>
                </a:solidFill>
              </a:rPr>
              <a:t>text↔structured 同源映射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1206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691640"/>
            <a:ext cx="109728" cy="411480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92808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引用而非搬运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2404872"/>
            <a:ext cx="470915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长内容（事实表 / 代码 / 日志 / 向量）只存一次，消息仅传：
• 对象 ID / 内容哈希
• artifact:// · state:// · memory:// · vector://
• 摘要 + 访问元数据
→ 通信效率 25 分的主要来源；引用失效自动降级文本。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非文本状态传递（被接收方真实消费）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210312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55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embedding / 语义向量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由 embedding 生成，用于语义检索与路由。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554480"/>
            <a:ext cx="361188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109728" cy="2103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55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compact state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67712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计划的紧凑数值特征，供接收方快速决策。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2044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109728" cy="210312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plan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67712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结构化计划图，接收方据此还原 operands 并调度。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生成 → 内容寻址存储 → state:// 引用 → 共享内存传输 → 接收方消费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5A6072"/>
                </a:solidFill>
              </a:rPr>
              <a:t>Retriever 用 plan embedding 对检索目标做语义排序、用 DAG 还原 operands —— 不再重新解析文本。</a:t>
            </a:r>
          </a:p>
          <a:p>
            <a:pPr algn="l"/>
            <a:r>
              <a:rPr sz="1450" b="0">
                <a:solidFill>
                  <a:srgbClr val="5A6072"/>
                </a:solidFill>
              </a:rPr>
              <a:t>大向量经 multiprocessing.shared_memory 零拷贝传输（openEuler 可开启），不可用自动降级。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共享记忆复用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48640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统一记忆单元  </a:t>
            </a:r>
            <a:r>
              <a:rPr sz="1500">
                <a:solidFill>
                  <a:srgbClr val="5A6072"/>
                </a:solidFill>
              </a:rPr>
              <a:t>全字段 + 四类（Working/Episodic/Semantic/Procedural）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混合检索  </a:t>
            </a:r>
            <a:r>
              <a:rPr sz="1500">
                <a:solidFill>
                  <a:srgbClr val="5A6072"/>
                </a:solidFill>
              </a:rPr>
              <a:t>语义 + 关键词 + 标签，× 质量权重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质量控制  </a:t>
            </a:r>
            <a:r>
              <a:rPr sz="1500">
                <a:solidFill>
                  <a:srgbClr val="5A6072"/>
                </a:solidFill>
              </a:rPr>
              <a:t>去重 / 版本 / 错误记忆降权 / provenance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命中分级  </a:t>
            </a:r>
            <a:r>
              <a:rPr sz="1500">
                <a:solidFill>
                  <a:srgbClr val="5A6072"/>
                </a:solidFill>
              </a:rPr>
              <a:t>Retrieved · Used · Effective · Harmful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E2761"/>
                </a:solidFill>
              </a:rPr>
              <a:t>▸ 跨任务复用  </a:t>
            </a:r>
            <a:r>
              <a:rPr sz="1500">
                <a:solidFill>
                  <a:srgbClr val="5A6072"/>
                </a:solidFill>
              </a:rPr>
              <a:t>同一子问题复用结论；相似子问题复用策略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691640"/>
            <a:ext cx="512064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691640"/>
            <a:ext cx="109728" cy="411480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92808"/>
            <a:ext cx="47091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强证据：连续任务 A /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2404872"/>
            <a:ext cx="4709159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A1 修复零除缺陷并沉淀「修复策略」；
A2 修复相邻模块——不提供策略，
仅靠复用 A1 的过程性记忆即可通过沙箱验收。
无记忆时 A2 / B2 失败 → 证明带来
跨任务可迁移能力，而非简单缓存。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CodeAct 与沙箱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A44"/>
                </a:solidFill>
              </a:rPr>
              <a:t>LLM 生成 Python 代码 → 受限环境执行 → 回传 stdout/stderr/exit/资源/artifact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09728" cy="329184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9572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进程隔离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07791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subprocess + timeout + 独立进程组超时清理；Python -I 隔离模式。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194560"/>
            <a:ext cx="36118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194560"/>
            <a:ext cx="109728" cy="329184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9572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资源限制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07791"/>
            <a:ext cx="32004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setrlimit：CPU / 内存 / 文件 / 句柄 / 进程数；输出大小限制。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94560"/>
            <a:ext cx="35204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109728" cy="329184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39572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可降级增强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1"/>
            <a:ext cx="31089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工作目录隔离 + 环境白名单 + 网络禁用；cgroup v2 / Podman 可选，缺失自动降级。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实验设计（公平 · 可复现）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89920" cy="4754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E2761"/>
                </a:solidFill>
              </a:rPr>
              <a:t>▸ 四组主实验  </a:t>
            </a:r>
            <a:r>
              <a:rPr sz="1600">
                <a:solidFill>
                  <a:srgbClr val="5A6072"/>
                </a:solidFill>
              </a:rPr>
              <a:t>A 文本基线 / B 结构化 / C 结构化+状态 / D 全系统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761"/>
                </a:solidFill>
              </a:rPr>
              <a:t>▸ 消融  </a:t>
            </a:r>
            <a:r>
              <a:rPr sz="1600">
                <a:solidFill>
                  <a:srgbClr val="5A6072"/>
                </a:solidFill>
              </a:rPr>
              <a:t>去记忆 / 去状态 / 去沙箱，隔离各机制贡献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761"/>
                </a:solidFill>
              </a:rPr>
              <a:t>▸ 16 项指标 + 派生  </a:t>
            </a:r>
            <a:r>
              <a:rPr sz="1600">
                <a:solidFill>
                  <a:srgbClr val="5A6072"/>
                </a:solidFill>
              </a:rPr>
              <a:t>Token 节省率 / 时延改善率 / 重复计算降低率 / 有效记忆命中率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761"/>
                </a:solidFill>
              </a:rPr>
              <a:t>▸ 公平性  </a:t>
            </a:r>
            <a:r>
              <a:rPr sz="1600">
                <a:solidFill>
                  <a:srgbClr val="5A6072"/>
                </a:solidFill>
              </a:rPr>
              <a:t>固定模型/温度/工具/重试/随机种子；mock-first 确定性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E2761"/>
                </a:solidFill>
              </a:rPr>
              <a:t>▸ 可复现  </a:t>
            </a:r>
            <a:r>
              <a:rPr sz="1600">
                <a:solidFill>
                  <a:srgbClr val="5A6072"/>
                </a:solidFill>
              </a:rPr>
              <a:t>每配置 ×5，报告均值/std/P50/P95；结果带时间戳落 results/ 不覆盖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实验结果（真实数据 · results/）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</a:rPr>
              <a:t>85.1%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A6072"/>
                </a:solidFill>
              </a:rPr>
              <a:t>Token 节省（C/D vs 文本基线）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55448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783080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697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A6072"/>
                </a:solidFill>
              </a:rPr>
              <a:t>任务成功率（全部配置）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55448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783080"/>
            <a:ext cx="3383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E2761"/>
                </a:solidFill>
              </a:rPr>
              <a:t>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69748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A6072"/>
                </a:solidFill>
              </a:rPr>
              <a:t>有效记忆命中率（无负迁移）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11880"/>
            <a:ext cx="53492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109728" cy="265176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13048"/>
            <a:ext cx="4937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消融定位贡献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25112"/>
            <a:ext cx="49377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去非文本状态 → Token 节省由 85% 退回 6%（状态是节省主因）；
去共享记忆 → 重复计算降低归零（复用是降本主因）。
两机制正交、可叠加。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611880"/>
            <a:ext cx="53492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611880"/>
            <a:ext cx="109728" cy="265176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813048"/>
            <a:ext cx="49377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诚实的权衡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325112"/>
            <a:ext cx="493775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CodeAct 沙箱引入子进程隔离，D 端到端时延高于基线；
去沙箱配置时延即回落 → 安全/时延权衡，
可用常驻 worker 摊薄（未来工作）。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20040"/>
            <a:ext cx="502920" cy="502920"/>
          </a:xfrm>
          <a:prstGeom prst="ellipse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1E2761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92608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稳定性与 openEuler 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4068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09728" cy="4389120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556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稳定性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67712"/>
            <a:ext cx="50292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• ≥10 轮连续执行成功，RSS 增长受控
• 故障注入与恢复：
   - Agent 崩溃 → 失败隔离不崩溃
   - LLM 暂时失败 → 重试恢复
   - 记忆库不可用 → 降级
   - 引用失效 → 降级文本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5440680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54480"/>
            <a:ext cx="109728" cy="43891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</a:rPr>
              <a:t>openEuler 24.03-LTS-SP3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67712"/>
            <a:ext cx="50292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A6072"/>
                </a:solidFill>
              </a:rPr>
              <a:t>• dnf 一键部署，隔离 venv，幂等脚本
• verify_openeuler.sh 输出：OS/内核/架构/
   依赖/cgroup v2/共享内存/Socket/沙箱/
   测试与 10 轮稳定性摘要
• cgroup/共享内存/Podman 可用则启用，
   不可用自动降级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F9A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Georgia"/>
              </a:rPr>
              <a:t>交付：多 Agent 协作的系统层基础设施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</a:rPr>
              <a:t>低开销 · 可解释 · 可复现 · 可在 openEuler 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A826"/>
                </a:solidFill>
              </a:rPr>
              <a:t>未来工作：常驻沙箱 worker · 真实 LLM 大规模评测 · 更强状态表示（KV/AST）· eBPF 观测 · 分布式运行时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谢谢！欢迎提问。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